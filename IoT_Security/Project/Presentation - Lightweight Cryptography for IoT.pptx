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ITC Avant Garde Gothic" charset="1" panose="020B0502020202020204"/>
      <p:regular r:id="rId15"/>
    </p:embeddedFont>
    <p:embeddedFont>
      <p:font typeface="TT Fors" charset="1" panose="020B0003030001020000"/>
      <p:regular r:id="rId16"/>
    </p:embeddedFont>
    <p:embeddedFont>
      <p:font typeface="TT Fors Bold" charset="1" panose="020B000303000102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868150"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0" t="-126" r="0" b="-126"/>
              </a:stretch>
            </a:blipFill>
          </p:spPr>
        </p:sp>
      </p:grpSp>
      <p:grpSp>
        <p:nvGrpSpPr>
          <p:cNvPr name="Group 4" id="4"/>
          <p:cNvGrpSpPr/>
          <p:nvPr/>
        </p:nvGrpSpPr>
        <p:grpSpPr>
          <a:xfrm rot="0">
            <a:off x="666750" y="666750"/>
            <a:ext cx="9763125" cy="4490729"/>
            <a:chOff x="0" y="0"/>
            <a:chExt cx="13017500" cy="5987639"/>
          </a:xfrm>
        </p:grpSpPr>
        <p:sp>
          <p:nvSpPr>
            <p:cNvPr name="TextBox 5" id="5"/>
            <p:cNvSpPr txBox="true"/>
            <p:nvPr/>
          </p:nvSpPr>
          <p:spPr>
            <a:xfrm rot="0">
              <a:off x="0" y="1184275"/>
              <a:ext cx="13017500" cy="4803364"/>
            </a:xfrm>
            <a:prstGeom prst="rect">
              <a:avLst/>
            </a:prstGeom>
          </p:spPr>
          <p:txBody>
            <a:bodyPr anchor="t" rtlCol="false" tIns="0" lIns="0" bIns="0" rIns="0">
              <a:spAutoFit/>
            </a:bodyPr>
            <a:lstStyle/>
            <a:p>
              <a:pPr algn="l" marL="0" indent="0" lvl="0">
                <a:lnSpc>
                  <a:spcPts val="6300"/>
                </a:lnSpc>
              </a:pPr>
              <a:r>
                <a:rPr lang="en-US" sz="6300" spc="-189">
                  <a:solidFill>
                    <a:srgbClr val="0A47A1"/>
                  </a:solidFill>
                  <a:latin typeface="ITC Avant Garde Gothic"/>
                  <a:ea typeface="ITC Avant Garde Gothic"/>
                  <a:cs typeface="ITC Avant Garde Gothic"/>
                  <a:sym typeface="ITC Avant Garde Gothic"/>
                </a:rPr>
                <a:t>A Comparat</a:t>
              </a:r>
              <a:r>
                <a:rPr lang="en-US" sz="6300" spc="-189">
                  <a:solidFill>
                    <a:srgbClr val="0A47A1"/>
                  </a:solidFill>
                  <a:latin typeface="ITC Avant Garde Gothic"/>
                  <a:ea typeface="ITC Avant Garde Gothic"/>
                  <a:cs typeface="ITC Avant Garde Gothic"/>
                  <a:sym typeface="ITC Avant Garde Gothic"/>
                </a:rPr>
                <a:t>ive Study of Rijndael and NGPKC with</a:t>
              </a:r>
            </a:p>
            <a:p>
              <a:pPr algn="l" marL="0" indent="0" lvl="0">
                <a:lnSpc>
                  <a:spcPts val="6300"/>
                </a:lnSpc>
              </a:pPr>
              <a:r>
                <a:rPr lang="en-US" sz="6300" spc="-189">
                  <a:solidFill>
                    <a:srgbClr val="0A47A1"/>
                  </a:solidFill>
                  <a:latin typeface="ITC Avant Garde Gothic"/>
                  <a:ea typeface="ITC Avant Garde Gothic"/>
                  <a:cs typeface="ITC Avant Garde Gothic"/>
                  <a:sym typeface="ITC Avant Garde Gothic"/>
                </a:rPr>
                <a:t>Hybrid Encryption Models in IoT Security</a:t>
              </a:r>
            </a:p>
            <a:p>
              <a:pPr algn="l" marL="0" indent="0" lvl="0">
                <a:lnSpc>
                  <a:spcPts val="2300"/>
                </a:lnSpc>
              </a:pPr>
            </a:p>
          </p:txBody>
        </p:sp>
        <p:sp>
          <p:nvSpPr>
            <p:cNvPr name="TextBox 6" id="6"/>
            <p:cNvSpPr txBox="true"/>
            <p:nvPr/>
          </p:nvSpPr>
          <p:spPr>
            <a:xfrm rot="0">
              <a:off x="0" y="-104775"/>
              <a:ext cx="13017500" cy="626322"/>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4A90E2"/>
                  </a:solidFill>
                  <a:latin typeface="ITC Avant Garde Gothic"/>
                  <a:ea typeface="ITC Avant Garde Gothic"/>
                  <a:cs typeface="ITC Avant Garde Gothic"/>
                  <a:sym typeface="ITC Avant Garde Gothic"/>
                </a:rPr>
                <a:t>IOT SECURITY INNOVATIONS</a:t>
              </a:r>
            </a:p>
          </p:txBody>
        </p:sp>
      </p:grpSp>
      <p:sp>
        <p:nvSpPr>
          <p:cNvPr name="TextBox 7" id="7"/>
          <p:cNvSpPr txBox="true"/>
          <p:nvPr/>
        </p:nvSpPr>
        <p:spPr>
          <a:xfrm rot="0">
            <a:off x="663474" y="7435850"/>
            <a:ext cx="7194651" cy="2184400"/>
          </a:xfrm>
          <a:prstGeom prst="rect">
            <a:avLst/>
          </a:prstGeom>
        </p:spPr>
        <p:txBody>
          <a:bodyPr anchor="t" rtlCol="false" tIns="0" lIns="0" bIns="0" rIns="0">
            <a:spAutoFit/>
          </a:bodyPr>
          <a:lstStyle/>
          <a:p>
            <a:pPr algn="l" marL="0" indent="0" lvl="0">
              <a:lnSpc>
                <a:spcPts val="3500"/>
              </a:lnSpc>
            </a:pPr>
            <a:r>
              <a:rPr lang="en-US" sz="2500">
                <a:solidFill>
                  <a:srgbClr val="2E2E2E"/>
                </a:solidFill>
                <a:latin typeface="TT Fors"/>
                <a:ea typeface="TT Fors"/>
                <a:cs typeface="TT Fors"/>
                <a:sym typeface="TT Fors"/>
              </a:rPr>
              <a:t>Presented by </a:t>
            </a:r>
          </a:p>
          <a:p>
            <a:pPr algn="l" marL="0" indent="0" lvl="0">
              <a:lnSpc>
                <a:spcPts val="3500"/>
              </a:lnSpc>
            </a:pPr>
            <a:r>
              <a:rPr lang="en-US" sz="2500">
                <a:solidFill>
                  <a:srgbClr val="2E2E2E"/>
                </a:solidFill>
                <a:latin typeface="TT Fors"/>
                <a:ea typeface="TT Fors"/>
                <a:cs typeface="TT Fors"/>
                <a:sym typeface="TT Fors"/>
              </a:rPr>
              <a:t>Nishanth Vaidya (nvaidya@syr.edu)</a:t>
            </a:r>
          </a:p>
          <a:p>
            <a:pPr algn="l" marL="0" indent="0" lvl="0">
              <a:lnSpc>
                <a:spcPts val="3500"/>
              </a:lnSpc>
            </a:pPr>
            <a:r>
              <a:rPr lang="en-US" sz="2500">
                <a:solidFill>
                  <a:srgbClr val="2E2E2E"/>
                </a:solidFill>
                <a:latin typeface="TT Fors"/>
                <a:ea typeface="TT Fors"/>
                <a:cs typeface="TT Fors"/>
                <a:sym typeface="TT Fors"/>
              </a:rPr>
              <a:t>Lakshminath Reddy Alamuru (lalamuru@syr.edu) Sunil Hanumanthegowda Kote (sukote@syr.edu)  Harsh Dwivedi (hdwivedi@syr.edu)</a:t>
            </a:r>
          </a:p>
        </p:txBody>
      </p:sp>
      <p:grpSp>
        <p:nvGrpSpPr>
          <p:cNvPr name="Group 8" id="8"/>
          <p:cNvGrpSpPr/>
          <p:nvPr/>
        </p:nvGrpSpPr>
        <p:grpSpPr>
          <a:xfrm rot="0">
            <a:off x="9444829" y="7829550"/>
            <a:ext cx="4846643" cy="1791955"/>
            <a:chOff x="0" y="0"/>
            <a:chExt cx="6462190" cy="2389273"/>
          </a:xfrm>
        </p:grpSpPr>
        <p:sp>
          <p:nvSpPr>
            <p:cNvPr name="Freeform 9" id="9"/>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6750" y="666750"/>
            <a:ext cx="12461370" cy="8698839"/>
            <a:chOff x="0" y="0"/>
            <a:chExt cx="16615159" cy="11598452"/>
          </a:xfrm>
        </p:grpSpPr>
        <p:sp>
          <p:nvSpPr>
            <p:cNvPr name="TextBox 3" id="3"/>
            <p:cNvSpPr txBox="true"/>
            <p:nvPr/>
          </p:nvSpPr>
          <p:spPr>
            <a:xfrm rot="0">
              <a:off x="0" y="-9525"/>
              <a:ext cx="16615159"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47A1"/>
                  </a:solidFill>
                  <a:latin typeface="ITC Avant Garde Gothic"/>
                  <a:ea typeface="ITC Avant Garde Gothic"/>
                  <a:cs typeface="ITC Avant Garde Gothic"/>
                  <a:sym typeface="ITC Avant Garde Gothic"/>
                </a:rPr>
                <a:t>Problem and Motivation</a:t>
              </a:r>
            </a:p>
          </p:txBody>
        </p:sp>
        <p:sp>
          <p:nvSpPr>
            <p:cNvPr name="TextBox 4" id="4"/>
            <p:cNvSpPr txBox="true"/>
            <p:nvPr/>
          </p:nvSpPr>
          <p:spPr>
            <a:xfrm rot="0">
              <a:off x="0" y="3419439"/>
              <a:ext cx="12348341" cy="8179012"/>
            </a:xfrm>
            <a:prstGeom prst="rect">
              <a:avLst/>
            </a:prstGeom>
          </p:spPr>
          <p:txBody>
            <a:bodyPr anchor="t" rtlCol="false" tIns="0" lIns="0" bIns="0" rIns="0">
              <a:spAutoFit/>
            </a:bodyPr>
            <a:lstStyle/>
            <a:p>
              <a:pPr algn="just" marL="0" indent="0" lvl="0">
                <a:lnSpc>
                  <a:spcPts val="4059"/>
                </a:lnSpc>
              </a:pPr>
              <a:r>
                <a:rPr lang="en-US" sz="2899">
                  <a:solidFill>
                    <a:srgbClr val="2E2E2E"/>
                  </a:solidFill>
                  <a:latin typeface="TT Fors"/>
                  <a:ea typeface="TT Fors"/>
                  <a:cs typeface="TT Fors"/>
                  <a:sym typeface="TT Fors"/>
                </a:rPr>
                <a:t>A</a:t>
              </a:r>
              <a:r>
                <a:rPr lang="en-US" sz="2899">
                  <a:solidFill>
                    <a:srgbClr val="2E2E2E"/>
                  </a:solidFill>
                  <a:latin typeface="TT Fors"/>
                  <a:ea typeface="TT Fors"/>
                  <a:cs typeface="TT Fors"/>
                  <a:sym typeface="TT Fors"/>
                </a:rPr>
                <a:t>s IoT devices continue to multiply, they br</a:t>
              </a:r>
              <a:r>
                <a:rPr lang="en-US" sz="2899">
                  <a:solidFill>
                    <a:srgbClr val="2E2E2E"/>
                  </a:solidFill>
                  <a:latin typeface="TT Fors"/>
                  <a:ea typeface="TT Fors"/>
                  <a:cs typeface="TT Fors"/>
                  <a:sym typeface="TT Fors"/>
                </a:rPr>
                <a:t>i</a:t>
              </a:r>
              <a:r>
                <a:rPr lang="en-US" sz="2899">
                  <a:solidFill>
                    <a:srgbClr val="2E2E2E"/>
                  </a:solidFill>
                  <a:latin typeface="TT Fors"/>
                  <a:ea typeface="TT Fors"/>
                  <a:cs typeface="TT Fors"/>
                  <a:sym typeface="TT Fors"/>
                </a:rPr>
                <a:t>n</a:t>
              </a:r>
              <a:r>
                <a:rPr lang="en-US" sz="2899">
                  <a:solidFill>
                    <a:srgbClr val="2E2E2E"/>
                  </a:solidFill>
                  <a:latin typeface="TT Fors"/>
                  <a:ea typeface="TT Fors"/>
                  <a:cs typeface="TT Fors"/>
                  <a:sym typeface="TT Fors"/>
                </a:rPr>
                <a:t>g</a:t>
              </a:r>
              <a:r>
                <a:rPr lang="en-US" sz="2899">
                  <a:solidFill>
                    <a:srgbClr val="2E2E2E"/>
                  </a:solidFill>
                  <a:latin typeface="TT Fors"/>
                  <a:ea typeface="TT Fors"/>
                  <a:cs typeface="TT Fors"/>
                  <a:sym typeface="TT Fors"/>
                </a:rPr>
                <a:t> l</a:t>
              </a:r>
              <a:r>
                <a:rPr lang="en-US" sz="2899">
                  <a:solidFill>
                    <a:srgbClr val="2E2E2E"/>
                  </a:solidFill>
                  <a:latin typeface="TT Fors"/>
                  <a:ea typeface="TT Fors"/>
                  <a:cs typeface="TT Fors"/>
                  <a:sym typeface="TT Fors"/>
                </a:rPr>
                <a:t>i</a:t>
              </a:r>
              <a:r>
                <a:rPr lang="en-US" sz="2899">
                  <a:solidFill>
                    <a:srgbClr val="2E2E2E"/>
                  </a:solidFill>
                  <a:latin typeface="TT Fors"/>
                  <a:ea typeface="TT Fors"/>
                  <a:cs typeface="TT Fors"/>
                  <a:sym typeface="TT Fors"/>
                </a:rPr>
                <a:t>m</a:t>
              </a:r>
              <a:r>
                <a:rPr lang="en-US" sz="2899">
                  <a:solidFill>
                    <a:srgbClr val="2E2E2E"/>
                  </a:solidFill>
                  <a:latin typeface="TT Fors"/>
                  <a:ea typeface="TT Fors"/>
                  <a:cs typeface="TT Fors"/>
                  <a:sym typeface="TT Fors"/>
                </a:rPr>
                <a:t>i</a:t>
              </a:r>
              <a:r>
                <a:rPr lang="en-US" sz="2899">
                  <a:solidFill>
                    <a:srgbClr val="2E2E2E"/>
                  </a:solidFill>
                  <a:latin typeface="TT Fors"/>
                  <a:ea typeface="TT Fors"/>
                  <a:cs typeface="TT Fors"/>
                  <a:sym typeface="TT Fors"/>
                </a:rPr>
                <a:t>ted pro</a:t>
              </a:r>
              <a:r>
                <a:rPr lang="en-US" sz="2899">
                  <a:solidFill>
                    <a:srgbClr val="2E2E2E"/>
                  </a:solidFill>
                  <a:latin typeface="TT Fors"/>
                  <a:ea typeface="TT Fors"/>
                  <a:cs typeface="TT Fors"/>
                  <a:sym typeface="TT Fors"/>
                </a:rPr>
                <a:t>c</a:t>
              </a:r>
              <a:r>
                <a:rPr lang="en-US" sz="2899">
                  <a:solidFill>
                    <a:srgbClr val="2E2E2E"/>
                  </a:solidFill>
                  <a:latin typeface="TT Fors"/>
                  <a:ea typeface="TT Fors"/>
                  <a:cs typeface="TT Fors"/>
                  <a:sym typeface="TT Fors"/>
                </a:rPr>
                <a:t>essing power </a:t>
              </a:r>
              <a:r>
                <a:rPr lang="en-US" sz="2899">
                  <a:solidFill>
                    <a:srgbClr val="2E2E2E"/>
                  </a:solidFill>
                  <a:latin typeface="TT Fors"/>
                  <a:ea typeface="TT Fors"/>
                  <a:cs typeface="TT Fors"/>
                  <a:sym typeface="TT Fors"/>
                </a:rPr>
                <a:t>an</a:t>
              </a:r>
              <a:r>
                <a:rPr lang="en-US" sz="2899">
                  <a:solidFill>
                    <a:srgbClr val="2E2E2E"/>
                  </a:solidFill>
                  <a:latin typeface="TT Fors"/>
                  <a:ea typeface="TT Fors"/>
                  <a:cs typeface="TT Fors"/>
                  <a:sym typeface="TT Fors"/>
                </a:rPr>
                <a:t>d</a:t>
              </a:r>
              <a:r>
                <a:rPr lang="en-US" sz="2899">
                  <a:solidFill>
                    <a:srgbClr val="2E2E2E"/>
                  </a:solidFill>
                  <a:latin typeface="TT Fors"/>
                  <a:ea typeface="TT Fors"/>
                  <a:cs typeface="TT Fors"/>
                  <a:sym typeface="TT Fors"/>
                </a:rPr>
                <a:t> </a:t>
              </a:r>
              <a:r>
                <a:rPr lang="en-US" sz="2899">
                  <a:solidFill>
                    <a:srgbClr val="2E2E2E"/>
                  </a:solidFill>
                  <a:latin typeface="TT Fors"/>
                  <a:ea typeface="TT Fors"/>
                  <a:cs typeface="TT Fors"/>
                  <a:sym typeface="TT Fors"/>
                </a:rPr>
                <a:t>sm</a:t>
              </a:r>
              <a:r>
                <a:rPr lang="en-US" sz="2899">
                  <a:solidFill>
                    <a:srgbClr val="2E2E2E"/>
                  </a:solidFill>
                  <a:latin typeface="TT Fors"/>
                  <a:ea typeface="TT Fors"/>
                  <a:cs typeface="TT Fors"/>
                  <a:sym typeface="TT Fors"/>
                </a:rPr>
                <a:t>all</a:t>
              </a:r>
              <a:r>
                <a:rPr lang="en-US" sz="2899">
                  <a:solidFill>
                    <a:srgbClr val="2E2E2E"/>
                  </a:solidFill>
                  <a:latin typeface="TT Fors"/>
                  <a:ea typeface="TT Fors"/>
                  <a:cs typeface="TT Fors"/>
                  <a:sym typeface="TT Fors"/>
                </a:rPr>
                <a:t> </a:t>
              </a:r>
              <a:r>
                <a:rPr lang="en-US" sz="2899">
                  <a:solidFill>
                    <a:srgbClr val="2E2E2E"/>
                  </a:solidFill>
                  <a:latin typeface="TT Fors"/>
                  <a:ea typeface="TT Fors"/>
                  <a:cs typeface="TT Fors"/>
                  <a:sym typeface="TT Fors"/>
                </a:rPr>
                <a:t>en</a:t>
              </a:r>
              <a:r>
                <a:rPr lang="en-US" sz="2899">
                  <a:solidFill>
                    <a:srgbClr val="2E2E2E"/>
                  </a:solidFill>
                  <a:latin typeface="TT Fors"/>
                  <a:ea typeface="TT Fors"/>
                  <a:cs typeface="TT Fors"/>
                  <a:sym typeface="TT Fors"/>
                </a:rPr>
                <a:t>er</a:t>
              </a:r>
              <a:r>
                <a:rPr lang="en-US" sz="2899">
                  <a:solidFill>
                    <a:srgbClr val="2E2E2E"/>
                  </a:solidFill>
                  <a:latin typeface="TT Fors"/>
                  <a:ea typeface="TT Fors"/>
                  <a:cs typeface="TT Fors"/>
                  <a:sym typeface="TT Fors"/>
                </a:rPr>
                <a:t>g</a:t>
              </a:r>
              <a:r>
                <a:rPr lang="en-US" sz="2899">
                  <a:solidFill>
                    <a:srgbClr val="2E2E2E"/>
                  </a:solidFill>
                  <a:latin typeface="TT Fors"/>
                  <a:ea typeface="TT Fors"/>
                  <a:cs typeface="TT Fors"/>
                  <a:sym typeface="TT Fors"/>
                </a:rPr>
                <a:t>y reserv</a:t>
              </a:r>
              <a:r>
                <a:rPr lang="en-US" sz="2899">
                  <a:solidFill>
                    <a:srgbClr val="2E2E2E"/>
                  </a:solidFill>
                  <a:latin typeface="TT Fors"/>
                  <a:ea typeface="TT Fors"/>
                  <a:cs typeface="TT Fors"/>
                  <a:sym typeface="TT Fors"/>
                </a:rPr>
                <a:t>es</a:t>
              </a:r>
              <a:r>
                <a:rPr lang="en-US" sz="2899">
                  <a:solidFill>
                    <a:srgbClr val="2E2E2E"/>
                  </a:solidFill>
                  <a:latin typeface="TT Fors"/>
                  <a:ea typeface="TT Fors"/>
                  <a:cs typeface="TT Fors"/>
                  <a:sym typeface="TT Fors"/>
                </a:rPr>
                <a:t> into environments that still require strong security. These devices often handle sensitive information but cannot support the heavy demands of traditional encryption. This creates a real challenge: how do we protect IoT systems without slowing them down or draining their batteries? Finding encryption methods that are both efficient and secure is essential for keeping modern IoT networks safe and dependable.</a:t>
              </a:r>
            </a:p>
            <a:p>
              <a:pPr algn="just" marL="0" indent="0" lvl="0">
                <a:lnSpc>
                  <a:spcPts val="4059"/>
                </a:lnSpc>
              </a:pPr>
            </a:p>
            <a:p>
              <a:pPr algn="just" marL="0" indent="0" lvl="0">
                <a:lnSpc>
                  <a:spcPts val="4059"/>
                </a:lnSpc>
              </a:pPr>
            </a:p>
          </p:txBody>
        </p:sp>
        <p:sp>
          <p:nvSpPr>
            <p:cNvPr name="TextBox 5" id="5"/>
            <p:cNvSpPr txBox="true"/>
            <p:nvPr/>
          </p:nvSpPr>
          <p:spPr>
            <a:xfrm rot="0">
              <a:off x="0" y="2235200"/>
              <a:ext cx="1448175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4A90E2"/>
                  </a:solidFill>
                  <a:latin typeface="TT Fors"/>
                  <a:ea typeface="TT Fors"/>
                  <a:cs typeface="TT Fors"/>
                  <a:sym typeface="TT Fors"/>
                </a:rPr>
                <a:t>Need for Lightweight Solutions</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6750" y="666750"/>
            <a:ext cx="11201400" cy="6496050"/>
            <a:chOff x="0" y="0"/>
            <a:chExt cx="14935200" cy="8661400"/>
          </a:xfrm>
        </p:grpSpPr>
        <p:sp>
          <p:nvSpPr>
            <p:cNvPr name="TextBox 3" id="3"/>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47A1"/>
                  </a:solidFill>
                  <a:latin typeface="ITC Avant Garde Gothic"/>
                  <a:ea typeface="ITC Avant Garde Gothic"/>
                  <a:cs typeface="ITC Avant Garde Gothic"/>
                  <a:sym typeface="ITC Avant Garde Gothic"/>
                </a:rPr>
                <a:t>System Overview</a:t>
              </a:r>
            </a:p>
          </p:txBody>
        </p:sp>
        <p:sp>
          <p:nvSpPr>
            <p:cNvPr name="TextBox 4" id="4"/>
            <p:cNvSpPr txBox="true"/>
            <p:nvPr/>
          </p:nvSpPr>
          <p:spPr>
            <a:xfrm rot="0">
              <a:off x="0" y="2244725"/>
              <a:ext cx="13017500" cy="6416675"/>
            </a:xfrm>
            <a:prstGeom prst="rect">
              <a:avLst/>
            </a:prstGeom>
          </p:spPr>
          <p:txBody>
            <a:bodyPr anchor="t" rtlCol="false" tIns="0" lIns="0" bIns="0" rIns="0">
              <a:spAutoFit/>
            </a:bodyPr>
            <a:lstStyle/>
            <a:p>
              <a:pPr algn="just" marL="0" indent="0" lvl="0">
                <a:lnSpc>
                  <a:spcPts val="3480"/>
                </a:lnSpc>
                <a:spcBef>
                  <a:spcPct val="0"/>
                </a:spcBef>
              </a:pPr>
              <a:r>
                <a:rPr lang="en-US" sz="2900" spc="-87">
                  <a:solidFill>
                    <a:srgbClr val="2E2E2E"/>
                  </a:solidFill>
                  <a:latin typeface="TT Fors"/>
                  <a:ea typeface="TT Fors"/>
                  <a:cs typeface="TT Fors"/>
                  <a:sym typeface="TT Fors"/>
                </a:rPr>
                <a:t>This study examines how Rijndael, NGPK</a:t>
              </a:r>
              <a:r>
                <a:rPr lang="en-US" sz="2900" spc="-87" strike="noStrike" u="none">
                  <a:solidFill>
                    <a:srgbClr val="2E2E2E"/>
                  </a:solidFill>
                  <a:latin typeface="TT Fors"/>
                  <a:ea typeface="TT Fors"/>
                  <a:cs typeface="TT Fors"/>
                  <a:sym typeface="TT Fors"/>
                </a:rPr>
                <a:t>C</a:t>
              </a:r>
              <a:r>
                <a:rPr lang="en-US" sz="2900" spc="-87" strike="noStrike" u="none">
                  <a:solidFill>
                    <a:srgbClr val="2E2E2E"/>
                  </a:solidFill>
                  <a:latin typeface="TT Fors"/>
                  <a:ea typeface="TT Fors"/>
                  <a:cs typeface="TT Fors"/>
                  <a:sym typeface="TT Fors"/>
                </a:rPr>
                <a:t>, and a hybrid appr</a:t>
              </a:r>
              <a:r>
                <a:rPr lang="en-US" sz="2900" spc="-87" strike="noStrike" u="none">
                  <a:solidFill>
                    <a:srgbClr val="2E2E2E"/>
                  </a:solidFill>
                  <a:latin typeface="TT Fors"/>
                  <a:ea typeface="TT Fors"/>
                  <a:cs typeface="TT Fors"/>
                  <a:sym typeface="TT Fors"/>
                </a:rPr>
                <a:t>o</a:t>
              </a:r>
              <a:r>
                <a:rPr lang="en-US" sz="2900" spc="-87" strike="noStrike" u="none">
                  <a:solidFill>
                    <a:srgbClr val="2E2E2E"/>
                  </a:solidFill>
                  <a:latin typeface="TT Fors"/>
                  <a:ea typeface="TT Fors"/>
                  <a:cs typeface="TT Fors"/>
                  <a:sym typeface="TT Fors"/>
                </a:rPr>
                <a:t>ach </a:t>
              </a:r>
              <a:r>
                <a:rPr lang="en-US" sz="2900" spc="-87" strike="noStrike" u="none">
                  <a:solidFill>
                    <a:srgbClr val="2E2E2E"/>
                  </a:solidFill>
                  <a:latin typeface="TT Fors"/>
                  <a:ea typeface="TT Fors"/>
                  <a:cs typeface="TT Fors"/>
                  <a:sym typeface="TT Fors"/>
                </a:rPr>
                <a:t>p</a:t>
              </a:r>
              <a:r>
                <a:rPr lang="en-US" sz="2900" spc="-87" strike="noStrike" u="none">
                  <a:solidFill>
                    <a:srgbClr val="2E2E2E"/>
                  </a:solidFill>
                  <a:latin typeface="TT Fors"/>
                  <a:ea typeface="TT Fors"/>
                  <a:cs typeface="TT Fors"/>
                  <a:sym typeface="TT Fors"/>
                </a:rPr>
                <a:t>erf</a:t>
              </a:r>
              <a:r>
                <a:rPr lang="en-US" sz="2900" spc="-87" strike="noStrike" u="none">
                  <a:solidFill>
                    <a:srgbClr val="2E2E2E"/>
                  </a:solidFill>
                  <a:latin typeface="TT Fors"/>
                  <a:ea typeface="TT Fors"/>
                  <a:cs typeface="TT Fors"/>
                  <a:sym typeface="TT Fors"/>
                </a:rPr>
                <a:t>o</a:t>
              </a:r>
              <a:r>
                <a:rPr lang="en-US" sz="2900" spc="-87" strike="noStrike" u="none">
                  <a:solidFill>
                    <a:srgbClr val="2E2E2E"/>
                  </a:solidFill>
                  <a:latin typeface="TT Fors"/>
                  <a:ea typeface="TT Fors"/>
                  <a:cs typeface="TT Fors"/>
                  <a:sym typeface="TT Fors"/>
                </a:rPr>
                <a:t>rm i</a:t>
              </a:r>
              <a:r>
                <a:rPr lang="en-US" sz="2900" spc="-87" strike="noStrike" u="none">
                  <a:solidFill>
                    <a:srgbClr val="2E2E2E"/>
                  </a:solidFill>
                  <a:latin typeface="TT Fors"/>
                  <a:ea typeface="TT Fors"/>
                  <a:cs typeface="TT Fors"/>
                  <a:sym typeface="TT Fors"/>
                </a:rPr>
                <a:t>n</a:t>
              </a:r>
              <a:r>
                <a:rPr lang="en-US" sz="2900" spc="-87" strike="noStrike" u="none">
                  <a:solidFill>
                    <a:srgbClr val="2E2E2E"/>
                  </a:solidFill>
                  <a:latin typeface="TT Fors"/>
                  <a:ea typeface="TT Fors"/>
                  <a:cs typeface="TT Fors"/>
                  <a:sym typeface="TT Fors"/>
                </a:rPr>
                <a:t> r</a:t>
              </a:r>
              <a:r>
                <a:rPr lang="en-US" sz="2900" spc="-87" strike="noStrike" u="none">
                  <a:solidFill>
                    <a:srgbClr val="2E2E2E"/>
                  </a:solidFill>
                  <a:latin typeface="TT Fors"/>
                  <a:ea typeface="TT Fors"/>
                  <a:cs typeface="TT Fors"/>
                  <a:sym typeface="TT Fors"/>
                </a:rPr>
                <a:t>e</a:t>
              </a:r>
              <a:r>
                <a:rPr lang="en-US" sz="2900" spc="-87" strike="noStrike" u="none">
                  <a:solidFill>
                    <a:srgbClr val="2E2E2E"/>
                  </a:solidFill>
                  <a:latin typeface="TT Fors"/>
                  <a:ea typeface="TT Fors"/>
                  <a:cs typeface="TT Fors"/>
                  <a:sym typeface="TT Fors"/>
                </a:rPr>
                <a:t>al IoT co</a:t>
              </a:r>
              <a:r>
                <a:rPr lang="en-US" sz="2900" spc="-87" strike="noStrike" u="none">
                  <a:solidFill>
                    <a:srgbClr val="2E2E2E"/>
                  </a:solidFill>
                  <a:latin typeface="TT Fors"/>
                  <a:ea typeface="TT Fors"/>
                  <a:cs typeface="TT Fors"/>
                  <a:sym typeface="TT Fors"/>
                </a:rPr>
                <a:t>n</a:t>
              </a:r>
              <a:r>
                <a:rPr lang="en-US" sz="2900" spc="-87" strike="noStrike" u="none">
                  <a:solidFill>
                    <a:srgbClr val="2E2E2E"/>
                  </a:solidFill>
                  <a:latin typeface="TT Fors"/>
                  <a:ea typeface="TT Fors"/>
                  <a:cs typeface="TT Fors"/>
                  <a:sym typeface="TT Fors"/>
                </a:rPr>
                <a:t>di</a:t>
              </a:r>
              <a:r>
                <a:rPr lang="en-US" sz="2900" spc="-87" strike="noStrike" u="none">
                  <a:solidFill>
                    <a:srgbClr val="2E2E2E"/>
                  </a:solidFill>
                  <a:latin typeface="TT Fors"/>
                  <a:ea typeface="TT Fors"/>
                  <a:cs typeface="TT Fors"/>
                  <a:sym typeface="TT Fors"/>
                </a:rPr>
                <a:t>t</a:t>
              </a:r>
              <a:r>
                <a:rPr lang="en-US" sz="2900" spc="-87" strike="noStrike" u="none">
                  <a:solidFill>
                    <a:srgbClr val="2E2E2E"/>
                  </a:solidFill>
                  <a:latin typeface="TT Fors"/>
                  <a:ea typeface="TT Fors"/>
                  <a:cs typeface="TT Fors"/>
                  <a:sym typeface="TT Fors"/>
                </a:rPr>
                <a:t>ion</a:t>
              </a:r>
              <a:r>
                <a:rPr lang="en-US" sz="2900" spc="-87" strike="noStrike" u="none">
                  <a:solidFill>
                    <a:srgbClr val="2E2E2E"/>
                  </a:solidFill>
                  <a:latin typeface="TT Fors"/>
                  <a:ea typeface="TT Fors"/>
                  <a:cs typeface="TT Fors"/>
                  <a:sym typeface="TT Fors"/>
                </a:rPr>
                <a:t>s</a:t>
              </a:r>
              <a:r>
                <a:rPr lang="en-US" sz="2900" spc="-87" strike="noStrike" u="none">
                  <a:solidFill>
                    <a:srgbClr val="2E2E2E"/>
                  </a:solidFill>
                  <a:latin typeface="TT Fors"/>
                  <a:ea typeface="TT Fors"/>
                  <a:cs typeface="TT Fors"/>
                  <a:sym typeface="TT Fors"/>
                </a:rPr>
                <a:t>. </a:t>
              </a:r>
            </a:p>
            <a:p>
              <a:pPr algn="just" marL="0" indent="0" lvl="0">
                <a:lnSpc>
                  <a:spcPts val="3480"/>
                </a:lnSpc>
                <a:spcBef>
                  <a:spcPct val="0"/>
                </a:spcBef>
              </a:pPr>
            </a:p>
            <a:p>
              <a:pPr algn="just" marL="0" indent="0" lvl="0">
                <a:lnSpc>
                  <a:spcPts val="3480"/>
                </a:lnSpc>
                <a:spcBef>
                  <a:spcPct val="0"/>
                </a:spcBef>
              </a:pPr>
              <a:r>
                <a:rPr lang="en-US" sz="2900" spc="-87" strike="noStrike" u="none">
                  <a:solidFill>
                    <a:srgbClr val="2E2E2E"/>
                  </a:solidFill>
                  <a:latin typeface="TT Fors"/>
                  <a:ea typeface="TT Fors"/>
                  <a:cs typeface="TT Fors"/>
                  <a:sym typeface="TT Fors"/>
                </a:rPr>
                <a:t>Using insights from prior research and a Python-based test environment built in our project notebook, we compared their speed, energy use, and security. </a:t>
              </a:r>
            </a:p>
            <a:p>
              <a:pPr algn="just" marL="0" indent="0" lvl="0">
                <a:lnSpc>
                  <a:spcPts val="3480"/>
                </a:lnSpc>
                <a:spcBef>
                  <a:spcPct val="0"/>
                </a:spcBef>
              </a:pPr>
            </a:p>
            <a:p>
              <a:pPr algn="just" marL="0" indent="0" lvl="0">
                <a:lnSpc>
                  <a:spcPts val="3480"/>
                </a:lnSpc>
                <a:spcBef>
                  <a:spcPct val="0"/>
                </a:spcBef>
              </a:pPr>
              <a:r>
                <a:rPr lang="en-US" sz="2900" spc="-87" strike="noStrike" u="none">
                  <a:solidFill>
                    <a:srgbClr val="2E2E2E"/>
                  </a:solidFill>
                  <a:latin typeface="TT Fors"/>
                  <a:ea typeface="TT Fors"/>
                  <a:cs typeface="TT Fors"/>
                  <a:sym typeface="TT Fors"/>
                </a:rPr>
                <a:t>The goal is to see how these methods behave on devices with limited power and processing, and to identify an encryption approach that keeps communication secure without slowing the system down.</a:t>
              </a: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6750" y="666750"/>
            <a:ext cx="13226921" cy="6127089"/>
            <a:chOff x="0" y="0"/>
            <a:chExt cx="17635894" cy="8169452"/>
          </a:xfrm>
        </p:grpSpPr>
        <p:sp>
          <p:nvSpPr>
            <p:cNvPr name="TextBox 3" id="3"/>
            <p:cNvSpPr txBox="true"/>
            <p:nvPr/>
          </p:nvSpPr>
          <p:spPr>
            <a:xfrm rot="0">
              <a:off x="0" y="-9525"/>
              <a:ext cx="17635894"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47A1"/>
                  </a:solidFill>
                  <a:latin typeface="ITC Avant Garde Gothic"/>
                  <a:ea typeface="ITC Avant Garde Gothic"/>
                  <a:cs typeface="ITC Avant Garde Gothic"/>
                  <a:sym typeface="ITC Avant Garde Gothic"/>
                </a:rPr>
                <a:t>Threat Model Overview</a:t>
              </a:r>
            </a:p>
          </p:txBody>
        </p:sp>
        <p:sp>
          <p:nvSpPr>
            <p:cNvPr name="TextBox 4" id="4"/>
            <p:cNvSpPr txBox="true"/>
            <p:nvPr/>
          </p:nvSpPr>
          <p:spPr>
            <a:xfrm rot="0">
              <a:off x="0" y="3419439"/>
              <a:ext cx="13106949" cy="4750012"/>
            </a:xfrm>
            <a:prstGeom prst="rect">
              <a:avLst/>
            </a:prstGeom>
          </p:spPr>
          <p:txBody>
            <a:bodyPr anchor="t" rtlCol="false" tIns="0" lIns="0" bIns="0" rIns="0">
              <a:spAutoFit/>
            </a:bodyPr>
            <a:lstStyle/>
            <a:p>
              <a:pPr algn="just" marL="0" indent="0" lvl="0">
                <a:lnSpc>
                  <a:spcPts val="4059"/>
                </a:lnSpc>
              </a:pPr>
              <a:r>
                <a:rPr lang="en-US" sz="2899">
                  <a:solidFill>
                    <a:srgbClr val="2E2E2E"/>
                  </a:solidFill>
                  <a:latin typeface="TT Fors"/>
                  <a:ea typeface="TT Fors"/>
                  <a:cs typeface="TT Fors"/>
                  <a:sym typeface="TT Fors"/>
                </a:rPr>
                <a:t>Understanding the </a:t>
              </a:r>
              <a:r>
                <a:rPr lang="en-US" sz="2899">
                  <a:solidFill>
                    <a:srgbClr val="2E2E2E"/>
                  </a:solidFill>
                  <a:latin typeface="TT Fors"/>
                  <a:ea typeface="TT Fors"/>
                  <a:cs typeface="TT Fors"/>
                  <a:sym typeface="TT Fors"/>
                </a:rPr>
                <a:t>threat model</a:t>
              </a:r>
              <a:r>
                <a:rPr lang="en-US" sz="2899">
                  <a:solidFill>
                    <a:srgbClr val="2E2E2E"/>
                  </a:solidFill>
                  <a:latin typeface="TT Fors"/>
                  <a:ea typeface="TT Fors"/>
                  <a:cs typeface="TT Fors"/>
                  <a:sym typeface="TT Fors"/>
                </a:rPr>
                <a:t> means identifying potential attackers, the data they may target, and what must be protected. In IoT systems, this includes risks like intercepted messages, altered data, and weak key management. Defining these elements helps set clear security goals and guides the design of encryption that fits the limitations of real IoT devices.</a:t>
              </a:r>
            </a:p>
          </p:txBody>
        </p:sp>
        <p:sp>
          <p:nvSpPr>
            <p:cNvPr name="TextBox 5" id="5"/>
            <p:cNvSpPr txBox="true"/>
            <p:nvPr/>
          </p:nvSpPr>
          <p:spPr>
            <a:xfrm rot="0">
              <a:off x="0" y="2235200"/>
              <a:ext cx="15371421"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4A90E2"/>
                  </a:solidFill>
                  <a:latin typeface="TT Fors"/>
                  <a:ea typeface="TT Fors"/>
                  <a:cs typeface="TT Fors"/>
                  <a:sym typeface="TT Fors"/>
                </a:rPr>
                <a:t>Identifying Key Security Elements</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6750" y="5143500"/>
            <a:ext cx="4010025" cy="3442335"/>
            <a:chOff x="0" y="0"/>
            <a:chExt cx="5346700" cy="4589780"/>
          </a:xfrm>
        </p:grpSpPr>
        <p:sp>
          <p:nvSpPr>
            <p:cNvPr name="TextBox 3" id="3"/>
            <p:cNvSpPr txBox="true"/>
            <p:nvPr/>
          </p:nvSpPr>
          <p:spPr>
            <a:xfrm rot="0">
              <a:off x="0" y="1155700"/>
              <a:ext cx="5346700" cy="3434080"/>
            </a:xfrm>
            <a:prstGeom prst="rect">
              <a:avLst/>
            </a:prstGeom>
          </p:spPr>
          <p:txBody>
            <a:bodyPr anchor="t" rtlCol="false" tIns="0" lIns="0" bIns="0" rIns="0">
              <a:spAutoFit/>
            </a:bodyPr>
            <a:lstStyle/>
            <a:p>
              <a:pPr algn="l" marL="0" indent="0" lvl="0">
                <a:lnSpc>
                  <a:spcPts val="2940"/>
                </a:lnSpc>
              </a:pPr>
              <a:r>
                <a:rPr lang="en-US" sz="2100">
                  <a:solidFill>
                    <a:srgbClr val="2E2E2E"/>
                  </a:solidFill>
                  <a:latin typeface="TT Fors"/>
                  <a:ea typeface="TT Fors"/>
                  <a:cs typeface="TT Fors"/>
                  <a:sym typeface="TT Fors"/>
                </a:rPr>
                <a:t>Rijndael is a </a:t>
              </a:r>
              <a:r>
                <a:rPr lang="en-US" b="true" sz="2100">
                  <a:solidFill>
                    <a:srgbClr val="2E2E2E"/>
                  </a:solidFill>
                  <a:latin typeface="TT Fors Bold"/>
                  <a:ea typeface="TT Fors Bold"/>
                  <a:cs typeface="TT Fors Bold"/>
                  <a:sym typeface="TT Fors Bold"/>
                </a:rPr>
                <a:t>fast symmetric encryption</a:t>
              </a:r>
              <a:r>
                <a:rPr lang="en-US" sz="2100">
                  <a:solidFill>
                    <a:srgbClr val="2E2E2E"/>
                  </a:solidFill>
                  <a:latin typeface="TT Fors"/>
                  <a:ea typeface="TT Fors"/>
                  <a:cs typeface="TT Fors"/>
                  <a:sym typeface="TT Fors"/>
                </a:rPr>
                <a:t> method known for strong diffusion and confusion properties, making it suitable for securing large data sets while balancing energy costs effectively during operations.</a:t>
              </a:r>
            </a:p>
          </p:txBody>
        </p:sp>
        <p:sp>
          <p:nvSpPr>
            <p:cNvPr name="TextBox 4" id="4"/>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2E2E2E"/>
                  </a:solidFill>
                  <a:latin typeface="ITC Avant Garde Gothic"/>
                  <a:ea typeface="ITC Avant Garde Gothic"/>
                  <a:cs typeface="ITC Avant Garde Gothic"/>
                  <a:sym typeface="ITC Avant Garde Gothic"/>
                </a:rPr>
                <a:t>Rijndael</a:t>
              </a:r>
            </a:p>
          </p:txBody>
        </p:sp>
      </p:grpSp>
      <p:grpSp>
        <p:nvGrpSpPr>
          <p:cNvPr name="Group 5" id="5"/>
          <p:cNvGrpSpPr/>
          <p:nvPr/>
        </p:nvGrpSpPr>
        <p:grpSpPr>
          <a:xfrm rot="0">
            <a:off x="6419850" y="5143500"/>
            <a:ext cx="4010025" cy="3813810"/>
            <a:chOff x="0" y="0"/>
            <a:chExt cx="5346700" cy="5085080"/>
          </a:xfrm>
        </p:grpSpPr>
        <p:sp>
          <p:nvSpPr>
            <p:cNvPr name="TextBox 6" id="6"/>
            <p:cNvSpPr txBox="true"/>
            <p:nvPr/>
          </p:nvSpPr>
          <p:spPr>
            <a:xfrm rot="0">
              <a:off x="0" y="1155700"/>
              <a:ext cx="5346700" cy="3929380"/>
            </a:xfrm>
            <a:prstGeom prst="rect">
              <a:avLst/>
            </a:prstGeom>
          </p:spPr>
          <p:txBody>
            <a:bodyPr anchor="t" rtlCol="false" tIns="0" lIns="0" bIns="0" rIns="0">
              <a:spAutoFit/>
            </a:bodyPr>
            <a:lstStyle/>
            <a:p>
              <a:pPr algn="l" marL="0" indent="0" lvl="0">
                <a:lnSpc>
                  <a:spcPts val="2940"/>
                </a:lnSpc>
              </a:pPr>
              <a:r>
                <a:rPr lang="en-US" sz="2100">
                  <a:solidFill>
                    <a:srgbClr val="2E2E2E"/>
                  </a:solidFill>
                  <a:latin typeface="TT Fors"/>
                  <a:ea typeface="TT Fors"/>
                  <a:cs typeface="TT Fors"/>
                  <a:sym typeface="TT Fors"/>
                </a:rPr>
                <a:t>NGPKC is a lightweight </a:t>
              </a:r>
              <a:r>
                <a:rPr lang="en-US" b="true" sz="2100">
                  <a:solidFill>
                    <a:srgbClr val="2E2E2E"/>
                  </a:solidFill>
                  <a:latin typeface="TT Fors Bold"/>
                  <a:ea typeface="TT Fors Bold"/>
                  <a:cs typeface="TT Fors Bold"/>
                  <a:sym typeface="TT Fors Bold"/>
                </a:rPr>
                <a:t>asymmetric encryption</a:t>
              </a:r>
              <a:r>
                <a:rPr lang="en-US" sz="2100">
                  <a:solidFill>
                    <a:srgbClr val="2E2E2E"/>
                  </a:solidFill>
                  <a:latin typeface="TT Fors"/>
                  <a:ea typeface="TT Fors"/>
                  <a:cs typeface="TT Fors"/>
                  <a:sym typeface="TT Fors"/>
                </a:rPr>
                <a:t> technique that offers small key sizes and low computational demands, providing robust security for key exchanges and showing potential for quantum resistance in future applications.</a:t>
              </a:r>
            </a:p>
          </p:txBody>
        </p:sp>
        <p:sp>
          <p:nvSpPr>
            <p:cNvPr name="TextBox 7" id="7"/>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2E2E2E"/>
                  </a:solidFill>
                  <a:latin typeface="ITC Avant Garde Gothic"/>
                  <a:ea typeface="ITC Avant Garde Gothic"/>
                  <a:cs typeface="ITC Avant Garde Gothic"/>
                  <a:sym typeface="ITC Avant Garde Gothic"/>
                </a:rPr>
                <a:t>NGPKC</a:t>
              </a:r>
            </a:p>
          </p:txBody>
        </p:sp>
      </p:grpSp>
      <p:grpSp>
        <p:nvGrpSpPr>
          <p:cNvPr name="Group 8" id="8"/>
          <p:cNvGrpSpPr/>
          <p:nvPr/>
        </p:nvGrpSpPr>
        <p:grpSpPr>
          <a:xfrm rot="0">
            <a:off x="12172950" y="5143500"/>
            <a:ext cx="4010025" cy="3813810"/>
            <a:chOff x="0" y="0"/>
            <a:chExt cx="5346700" cy="5085080"/>
          </a:xfrm>
        </p:grpSpPr>
        <p:sp>
          <p:nvSpPr>
            <p:cNvPr name="TextBox 9" id="9"/>
            <p:cNvSpPr txBox="true"/>
            <p:nvPr/>
          </p:nvSpPr>
          <p:spPr>
            <a:xfrm rot="0">
              <a:off x="0" y="1155700"/>
              <a:ext cx="5346700" cy="3929380"/>
            </a:xfrm>
            <a:prstGeom prst="rect">
              <a:avLst/>
            </a:prstGeom>
          </p:spPr>
          <p:txBody>
            <a:bodyPr anchor="t" rtlCol="false" tIns="0" lIns="0" bIns="0" rIns="0">
              <a:spAutoFit/>
            </a:bodyPr>
            <a:lstStyle/>
            <a:p>
              <a:pPr algn="l" marL="0" indent="0" lvl="0">
                <a:lnSpc>
                  <a:spcPts val="2940"/>
                </a:lnSpc>
              </a:pPr>
              <a:r>
                <a:rPr lang="en-US" sz="2100">
                  <a:solidFill>
                    <a:srgbClr val="2E2E2E"/>
                  </a:solidFill>
                  <a:latin typeface="TT Fors"/>
                  <a:ea typeface="TT Fors"/>
                  <a:cs typeface="TT Fors"/>
                  <a:sym typeface="TT Fors"/>
                </a:rPr>
                <a:t>The hybrid model combines </a:t>
              </a:r>
              <a:r>
                <a:rPr lang="en-US" b="true" sz="2100">
                  <a:solidFill>
                    <a:srgbClr val="2E2E2E"/>
                  </a:solidFill>
                  <a:latin typeface="TT Fors Bold"/>
                  <a:ea typeface="TT Fors Bold"/>
                  <a:cs typeface="TT Fors Bold"/>
                  <a:sym typeface="TT Fors Bold"/>
                </a:rPr>
                <a:t>NGPKC for secure session keys</a:t>
              </a:r>
              <a:r>
                <a:rPr lang="en-US" sz="2100">
                  <a:solidFill>
                    <a:srgbClr val="2E2E2E"/>
                  </a:solidFill>
                  <a:latin typeface="TT Fors"/>
                  <a:ea typeface="TT Fors"/>
                  <a:cs typeface="TT Fors"/>
                  <a:sym typeface="TT Fors"/>
                </a:rPr>
                <a:t> with Rijndael for bulk encryption, leveraging the strengths of both methods to enhance security while maintaining high performance and energy efficiency.</a:t>
              </a:r>
            </a:p>
          </p:txBody>
        </p:sp>
        <p:sp>
          <p:nvSpPr>
            <p:cNvPr name="TextBox 10" id="10"/>
            <p:cNvSpPr txBox="true"/>
            <p:nvPr/>
          </p:nvSpPr>
          <p:spPr>
            <a:xfrm rot="0">
              <a:off x="0" y="-104775"/>
              <a:ext cx="53467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2E2E2E"/>
                  </a:solidFill>
                  <a:latin typeface="ITC Avant Garde Gothic"/>
                  <a:ea typeface="ITC Avant Garde Gothic"/>
                  <a:cs typeface="ITC Avant Garde Gothic"/>
                  <a:sym typeface="ITC Avant Garde Gothic"/>
                </a:rPr>
                <a:t>Hybrid Approach</a:t>
              </a:r>
            </a:p>
          </p:txBody>
        </p:sp>
      </p:grpSp>
      <p:grpSp>
        <p:nvGrpSpPr>
          <p:cNvPr name="Group 11" id="11"/>
          <p:cNvGrpSpPr/>
          <p:nvPr/>
        </p:nvGrpSpPr>
        <p:grpSpPr>
          <a:xfrm rot="0">
            <a:off x="666750" y="666750"/>
            <a:ext cx="11201400" cy="3171825"/>
            <a:chOff x="0" y="0"/>
            <a:chExt cx="14935200" cy="4229100"/>
          </a:xfrm>
        </p:grpSpPr>
        <p:sp>
          <p:nvSpPr>
            <p:cNvPr name="TextBox 12" id="12"/>
            <p:cNvSpPr txBox="true"/>
            <p:nvPr/>
          </p:nvSpPr>
          <p:spPr>
            <a:xfrm rot="0">
              <a:off x="0" y="-9525"/>
              <a:ext cx="149352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47A1"/>
                  </a:solidFill>
                  <a:latin typeface="ITC Avant Garde Gothic"/>
                  <a:ea typeface="ITC Avant Garde Gothic"/>
                  <a:cs typeface="ITC Avant Garde Gothic"/>
                  <a:sym typeface="ITC Avant Garde Gothic"/>
                </a:rPr>
                <a:t>Security Solutions Overview</a:t>
              </a:r>
            </a:p>
          </p:txBody>
        </p:sp>
        <p:sp>
          <p:nvSpPr>
            <p:cNvPr name="TextBox 13" id="13"/>
            <p:cNvSpPr txBox="true"/>
            <p:nvPr/>
          </p:nvSpPr>
          <p:spPr>
            <a:xfrm rot="0">
              <a:off x="0" y="3581400"/>
              <a:ext cx="13423900" cy="647700"/>
            </a:xfrm>
            <a:prstGeom prst="rect">
              <a:avLst/>
            </a:prstGeom>
          </p:spPr>
          <p:txBody>
            <a:bodyPr anchor="t" rtlCol="false" tIns="0" lIns="0" bIns="0" rIns="0">
              <a:spAutoFit/>
            </a:bodyPr>
            <a:lstStyle/>
            <a:p>
              <a:pPr algn="l" marL="0" indent="0" lvl="0">
                <a:lnSpc>
                  <a:spcPts val="3839"/>
                </a:lnSpc>
              </a:pPr>
              <a:r>
                <a:rPr lang="en-US" sz="3199" spc="-95" strike="noStrike" u="none">
                  <a:solidFill>
                    <a:srgbClr val="4A90E2"/>
                  </a:solidFill>
                  <a:latin typeface="TT Fors"/>
                  <a:ea typeface="TT Fors"/>
                  <a:cs typeface="TT Fors"/>
                  <a:sym typeface="TT Fors"/>
                </a:rPr>
                <a:t>Cryptographic Methods Explained</a:t>
              </a:r>
            </a:p>
          </p:txBody>
        </p:sp>
      </p:grpSp>
      <p:grpSp>
        <p:nvGrpSpPr>
          <p:cNvPr name="Group 14" id="14"/>
          <p:cNvGrpSpPr/>
          <p:nvPr/>
        </p:nvGrpSpPr>
        <p:grpSpPr>
          <a:xfrm rot="0">
            <a:off x="15430959" y="752281"/>
            <a:ext cx="2190291" cy="809819"/>
            <a:chOff x="0" y="0"/>
            <a:chExt cx="2920388" cy="1079758"/>
          </a:xfrm>
        </p:grpSpPr>
        <p:sp>
          <p:nvSpPr>
            <p:cNvPr name="Freeform 15" id="15"/>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96400" y="1562100"/>
            <a:ext cx="6886575" cy="2327910"/>
            <a:chOff x="0" y="0"/>
            <a:chExt cx="9182100" cy="3103880"/>
          </a:xfrm>
        </p:grpSpPr>
        <p:sp>
          <p:nvSpPr>
            <p:cNvPr name="TextBox 3" id="3"/>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2E2E2E"/>
                  </a:solidFill>
                  <a:latin typeface="TT Fors"/>
                  <a:ea typeface="TT Fors"/>
                  <a:cs typeface="TT Fors"/>
                  <a:sym typeface="TT Fors"/>
                </a:rPr>
                <a:t>Rijndael demonstrates the </a:t>
              </a:r>
              <a:r>
                <a:rPr lang="en-US" b="true" sz="2100">
                  <a:solidFill>
                    <a:srgbClr val="2E2E2E"/>
                  </a:solidFill>
                  <a:latin typeface="TT Fors Bold"/>
                  <a:ea typeface="TT Fors Bold"/>
                  <a:cs typeface="TT Fors Bold"/>
                  <a:sym typeface="TT Fors Bold"/>
                </a:rPr>
                <a:t>highest throughput</a:t>
              </a:r>
              <a:r>
                <a:rPr lang="en-US" sz="2100">
                  <a:solidFill>
                    <a:srgbClr val="2E2E2E"/>
                  </a:solidFill>
                  <a:latin typeface="TT Fors"/>
                  <a:ea typeface="TT Fors"/>
                  <a:cs typeface="TT Fors"/>
                  <a:sym typeface="TT Fors"/>
                </a:rPr>
                <a:t>, achieving approximately 200–300 Mbps on hardware and 50–100 Mbps on IoT software, making it ideal for bulk encryption tasks.</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2E2E2E"/>
                  </a:solidFill>
                  <a:latin typeface="ITC Avant Garde Gothic"/>
                  <a:ea typeface="ITC Avant Garde Gothic"/>
                  <a:cs typeface="ITC Avant Garde Gothic"/>
                  <a:sym typeface="ITC Avant Garde Gothic"/>
                </a:rPr>
                <a:t>Performance Metrics</a:t>
              </a:r>
            </a:p>
          </p:txBody>
        </p:sp>
      </p:grpSp>
      <p:grpSp>
        <p:nvGrpSpPr>
          <p:cNvPr name="Group 5" id="5"/>
          <p:cNvGrpSpPr/>
          <p:nvPr/>
        </p:nvGrpSpPr>
        <p:grpSpPr>
          <a:xfrm rot="0">
            <a:off x="9296400" y="5143500"/>
            <a:ext cx="6886575" cy="2327910"/>
            <a:chOff x="0" y="0"/>
            <a:chExt cx="9182100" cy="3103880"/>
          </a:xfrm>
        </p:grpSpPr>
        <p:sp>
          <p:nvSpPr>
            <p:cNvPr name="TextBox 6" id="6"/>
            <p:cNvSpPr txBox="true"/>
            <p:nvPr/>
          </p:nvSpPr>
          <p:spPr>
            <a:xfrm rot="0">
              <a:off x="0" y="1155700"/>
              <a:ext cx="9182100" cy="1948180"/>
            </a:xfrm>
            <a:prstGeom prst="rect">
              <a:avLst/>
            </a:prstGeom>
          </p:spPr>
          <p:txBody>
            <a:bodyPr anchor="t" rtlCol="false" tIns="0" lIns="0" bIns="0" rIns="0">
              <a:spAutoFit/>
            </a:bodyPr>
            <a:lstStyle/>
            <a:p>
              <a:pPr algn="l" marL="0" indent="0" lvl="0">
                <a:lnSpc>
                  <a:spcPts val="2940"/>
                </a:lnSpc>
              </a:pPr>
              <a:r>
                <a:rPr lang="en-US" sz="2100">
                  <a:solidFill>
                    <a:srgbClr val="2E2E2E"/>
                  </a:solidFill>
                  <a:latin typeface="TT Fors"/>
                  <a:ea typeface="TT Fors"/>
                  <a:cs typeface="TT Fors"/>
                  <a:sym typeface="TT Fors"/>
                </a:rPr>
                <a:t>While Rijndael incurs significant energy costs (0.5–1.5 J per operation), NGPKC offers a much lower consumption range (0.01–0.05 J), proving effective for energy-constrained devices.</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2E2E2E"/>
                  </a:solidFill>
                  <a:latin typeface="ITC Avant Garde Gothic"/>
                  <a:ea typeface="ITC Avant Garde Gothic"/>
                  <a:cs typeface="ITC Avant Garde Gothic"/>
                  <a:sym typeface="ITC Avant Garde Gothic"/>
                </a:rPr>
                <a:t>Energy Efficiency</a:t>
              </a:r>
            </a:p>
          </p:txBody>
        </p:sp>
      </p:grpSp>
      <p:grpSp>
        <p:nvGrpSpPr>
          <p:cNvPr name="Group 8" id="8"/>
          <p:cNvGrpSpPr/>
          <p:nvPr/>
        </p:nvGrpSpPr>
        <p:grpSpPr>
          <a:xfrm rot="0">
            <a:off x="666750" y="666750"/>
            <a:ext cx="6886575" cy="3543300"/>
            <a:chOff x="0" y="0"/>
            <a:chExt cx="9182100" cy="4724400"/>
          </a:xfrm>
        </p:grpSpPr>
        <p:sp>
          <p:nvSpPr>
            <p:cNvPr name="TextBox 9" id="9"/>
            <p:cNvSpPr txBox="true"/>
            <p:nvPr/>
          </p:nvSpPr>
          <p:spPr>
            <a:xfrm rot="0">
              <a:off x="0" y="-9525"/>
              <a:ext cx="91821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47A1"/>
                  </a:solidFill>
                  <a:latin typeface="ITC Avant Garde Gothic"/>
                  <a:ea typeface="ITC Avant Garde Gothic"/>
                  <a:cs typeface="ITC Avant Garde Gothic"/>
                  <a:sym typeface="ITC Avant Garde Gothic"/>
                </a:rPr>
                <a:t>Results and Evaluation</a:t>
              </a:r>
            </a:p>
          </p:txBody>
        </p:sp>
        <p:sp>
          <p:nvSpPr>
            <p:cNvPr name="TextBox 10" id="10"/>
            <p:cNvSpPr txBox="true"/>
            <p:nvPr/>
          </p:nvSpPr>
          <p:spPr>
            <a:xfrm rot="0">
              <a:off x="0" y="3362325"/>
              <a:ext cx="9182100" cy="13620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4A90E2"/>
                  </a:solidFill>
                  <a:latin typeface="ITC Avant Garde Gothic"/>
                  <a:ea typeface="ITC Avant Garde Gothic"/>
                  <a:cs typeface="ITC Avant Garde Gothic"/>
                  <a:sym typeface="ITC Avant Garde Gothic"/>
                </a:rPr>
                <a:t>Performance and energy analysis of cryptographic methods</a:t>
              </a:r>
            </a:p>
          </p:txBody>
        </p:sp>
      </p:grpSp>
      <p:grpSp>
        <p:nvGrpSpPr>
          <p:cNvPr name="Group 11" id="11"/>
          <p:cNvGrpSpPr/>
          <p:nvPr/>
        </p:nvGrpSpPr>
        <p:grpSpPr>
          <a:xfrm rot="0">
            <a:off x="-1303343" y="7829550"/>
            <a:ext cx="4846643" cy="1791955"/>
            <a:chOff x="0" y="0"/>
            <a:chExt cx="6462190" cy="2389273"/>
          </a:xfrm>
        </p:grpSpPr>
        <p:sp>
          <p:nvSpPr>
            <p:cNvPr name="Freeform 12" id="12"/>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6750" y="666750"/>
            <a:ext cx="6886575" cy="3543300"/>
            <a:chOff x="0" y="0"/>
            <a:chExt cx="9182100" cy="4724400"/>
          </a:xfrm>
        </p:grpSpPr>
        <p:sp>
          <p:nvSpPr>
            <p:cNvPr name="TextBox 3" id="3"/>
            <p:cNvSpPr txBox="true"/>
            <p:nvPr/>
          </p:nvSpPr>
          <p:spPr>
            <a:xfrm rot="0">
              <a:off x="0" y="-9525"/>
              <a:ext cx="91821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47A1"/>
                  </a:solidFill>
                  <a:latin typeface="ITC Avant Garde Gothic"/>
                  <a:ea typeface="ITC Avant Garde Gothic"/>
                  <a:cs typeface="ITC Avant Garde Gothic"/>
                  <a:sym typeface="ITC Avant Garde Gothic"/>
                </a:rPr>
                <a:t>Security Comparison</a:t>
              </a:r>
            </a:p>
          </p:txBody>
        </p:sp>
        <p:sp>
          <p:nvSpPr>
            <p:cNvPr name="TextBox 4" id="4"/>
            <p:cNvSpPr txBox="true"/>
            <p:nvPr/>
          </p:nvSpPr>
          <p:spPr>
            <a:xfrm rot="0">
              <a:off x="0" y="3362325"/>
              <a:ext cx="9182100" cy="13620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4A90E2"/>
                  </a:solidFill>
                  <a:latin typeface="ITC Avant Garde Gothic"/>
                  <a:ea typeface="ITC Avant Garde Gothic"/>
                  <a:cs typeface="ITC Avant Garde Gothic"/>
                  <a:sym typeface="ITC Avant Garde Gothic"/>
                </a:rPr>
                <a:t>Evaluating strengths of cryptographic methods for IoT</a:t>
              </a:r>
            </a:p>
          </p:txBody>
        </p:sp>
      </p:grpSp>
      <p:grpSp>
        <p:nvGrpSpPr>
          <p:cNvPr name="Group 5" id="5"/>
          <p:cNvGrpSpPr/>
          <p:nvPr/>
        </p:nvGrpSpPr>
        <p:grpSpPr>
          <a:xfrm rot="0">
            <a:off x="9296400" y="1562100"/>
            <a:ext cx="6886575" cy="1919827"/>
            <a:chOff x="0" y="0"/>
            <a:chExt cx="9182100" cy="2559770"/>
          </a:xfrm>
        </p:grpSpPr>
        <p:sp>
          <p:nvSpPr>
            <p:cNvPr name="TextBox 6" id="6"/>
            <p:cNvSpPr txBox="true"/>
            <p:nvPr/>
          </p:nvSpPr>
          <p:spPr>
            <a:xfrm rot="0">
              <a:off x="0" y="1134576"/>
              <a:ext cx="9182100" cy="1425194"/>
            </a:xfrm>
            <a:prstGeom prst="rect">
              <a:avLst/>
            </a:prstGeom>
          </p:spPr>
          <p:txBody>
            <a:bodyPr anchor="t" rtlCol="false" tIns="0" lIns="0" bIns="0" rIns="0">
              <a:spAutoFit/>
            </a:bodyPr>
            <a:lstStyle/>
            <a:p>
              <a:pPr algn="l" marL="0" indent="0" lvl="0">
                <a:lnSpc>
                  <a:spcPts val="2903"/>
                </a:lnSpc>
                <a:spcBef>
                  <a:spcPct val="0"/>
                </a:spcBef>
              </a:pPr>
              <a:r>
                <a:rPr lang="en-US" sz="2073">
                  <a:solidFill>
                    <a:srgbClr val="2E2E2E"/>
                  </a:solidFill>
                  <a:latin typeface="TT Fors"/>
                  <a:ea typeface="TT Fors"/>
                  <a:cs typeface="TT Fors"/>
                  <a:sym typeface="TT Fors"/>
                </a:rPr>
                <a:t>Rijndael is well-known for its </a:t>
              </a:r>
              <a:r>
                <a:rPr lang="en-US" b="true" sz="2073">
                  <a:solidFill>
                    <a:srgbClr val="2E2E2E"/>
                  </a:solidFill>
                  <a:latin typeface="TT Fors Bold"/>
                  <a:ea typeface="TT Fors Bold"/>
                  <a:cs typeface="TT Fors Bold"/>
                  <a:sym typeface="TT Fors Bold"/>
                </a:rPr>
                <a:t>high speed</a:t>
              </a:r>
              <a:r>
                <a:rPr lang="en-US" sz="2073">
                  <a:solidFill>
                    <a:srgbClr val="2E2E2E"/>
                  </a:solidFill>
                  <a:latin typeface="TT Fors"/>
                  <a:ea typeface="TT Fors"/>
                  <a:cs typeface="TT Fors"/>
                  <a:sym typeface="TT Fors"/>
                </a:rPr>
                <a:t> and strong security, making it ideal for bulk encryption in various applications.</a:t>
              </a:r>
            </a:p>
          </p:txBody>
        </p:sp>
        <p:sp>
          <p:nvSpPr>
            <p:cNvPr name="TextBox 7" id="7"/>
            <p:cNvSpPr txBox="true"/>
            <p:nvPr/>
          </p:nvSpPr>
          <p:spPr>
            <a:xfrm rot="0">
              <a:off x="0" y="-104775"/>
              <a:ext cx="9182100" cy="614722"/>
            </a:xfrm>
            <a:prstGeom prst="rect">
              <a:avLst/>
            </a:prstGeom>
          </p:spPr>
          <p:txBody>
            <a:bodyPr anchor="t" rtlCol="false" tIns="0" lIns="0" bIns="0" rIns="0">
              <a:spAutoFit/>
            </a:bodyPr>
            <a:lstStyle/>
            <a:p>
              <a:pPr algn="l" marL="0" indent="0" lvl="0">
                <a:lnSpc>
                  <a:spcPts val="3594"/>
                </a:lnSpc>
                <a:spcBef>
                  <a:spcPct val="0"/>
                </a:spcBef>
              </a:pPr>
              <a:r>
                <a:rPr lang="en-US" sz="2567" spc="-77" strike="noStrike" u="none">
                  <a:solidFill>
                    <a:srgbClr val="2E2E2E"/>
                  </a:solidFill>
                  <a:latin typeface="ITC Avant Garde Gothic"/>
                  <a:ea typeface="ITC Avant Garde Gothic"/>
                  <a:cs typeface="ITC Avant Garde Gothic"/>
                  <a:sym typeface="ITC Avant Garde Gothic"/>
                </a:rPr>
                <a:t>Rijndael</a:t>
              </a:r>
            </a:p>
          </p:txBody>
        </p:sp>
      </p:grpSp>
      <p:grpSp>
        <p:nvGrpSpPr>
          <p:cNvPr name="Group 8" id="8"/>
          <p:cNvGrpSpPr/>
          <p:nvPr/>
        </p:nvGrpSpPr>
        <p:grpSpPr>
          <a:xfrm rot="0">
            <a:off x="9296400" y="4248150"/>
            <a:ext cx="6886575" cy="1919827"/>
            <a:chOff x="0" y="0"/>
            <a:chExt cx="9182100" cy="2559770"/>
          </a:xfrm>
        </p:grpSpPr>
        <p:sp>
          <p:nvSpPr>
            <p:cNvPr name="TextBox 9" id="9"/>
            <p:cNvSpPr txBox="true"/>
            <p:nvPr/>
          </p:nvSpPr>
          <p:spPr>
            <a:xfrm rot="0">
              <a:off x="0" y="1134576"/>
              <a:ext cx="9182100" cy="1425194"/>
            </a:xfrm>
            <a:prstGeom prst="rect">
              <a:avLst/>
            </a:prstGeom>
          </p:spPr>
          <p:txBody>
            <a:bodyPr anchor="t" rtlCol="false" tIns="0" lIns="0" bIns="0" rIns="0">
              <a:spAutoFit/>
            </a:bodyPr>
            <a:lstStyle/>
            <a:p>
              <a:pPr algn="l" marL="0" indent="0" lvl="0">
                <a:lnSpc>
                  <a:spcPts val="2903"/>
                </a:lnSpc>
                <a:spcBef>
                  <a:spcPct val="0"/>
                </a:spcBef>
              </a:pPr>
              <a:r>
                <a:rPr lang="en-US" sz="2073">
                  <a:solidFill>
                    <a:srgbClr val="2E2E2E"/>
                  </a:solidFill>
                  <a:latin typeface="TT Fors"/>
                  <a:ea typeface="TT Fors"/>
                  <a:cs typeface="TT Fors"/>
                  <a:sym typeface="TT Fors"/>
                </a:rPr>
                <a:t>NGPKC provides </a:t>
              </a:r>
              <a:r>
                <a:rPr lang="en-US" b="true" sz="2073">
                  <a:solidFill>
                    <a:srgbClr val="2E2E2E"/>
                  </a:solidFill>
                  <a:latin typeface="TT Fors Bold"/>
                  <a:ea typeface="TT Fors Bold"/>
                  <a:cs typeface="TT Fors Bold"/>
                  <a:sym typeface="TT Fors Bold"/>
                </a:rPr>
                <a:t>efficient key exchange</a:t>
              </a:r>
              <a:r>
                <a:rPr lang="en-US" sz="2073">
                  <a:solidFill>
                    <a:srgbClr val="2E2E2E"/>
                  </a:solidFill>
                  <a:latin typeface="TT Fors"/>
                  <a:ea typeface="TT Fors"/>
                  <a:cs typeface="TT Fors"/>
                  <a:sym typeface="TT Fors"/>
                </a:rPr>
                <a:t> with small keys, ensuring strong authentication and future-proofing against potential quantum threats effectively.</a:t>
              </a:r>
            </a:p>
          </p:txBody>
        </p:sp>
        <p:sp>
          <p:nvSpPr>
            <p:cNvPr name="TextBox 10" id="10"/>
            <p:cNvSpPr txBox="true"/>
            <p:nvPr/>
          </p:nvSpPr>
          <p:spPr>
            <a:xfrm rot="0">
              <a:off x="0" y="-104775"/>
              <a:ext cx="9182100" cy="614722"/>
            </a:xfrm>
            <a:prstGeom prst="rect">
              <a:avLst/>
            </a:prstGeom>
          </p:spPr>
          <p:txBody>
            <a:bodyPr anchor="t" rtlCol="false" tIns="0" lIns="0" bIns="0" rIns="0">
              <a:spAutoFit/>
            </a:bodyPr>
            <a:lstStyle/>
            <a:p>
              <a:pPr algn="l" marL="0" indent="0" lvl="0">
                <a:lnSpc>
                  <a:spcPts val="3594"/>
                </a:lnSpc>
                <a:spcBef>
                  <a:spcPct val="0"/>
                </a:spcBef>
              </a:pPr>
              <a:r>
                <a:rPr lang="en-US" sz="2567" spc="-77" strike="noStrike" u="none">
                  <a:solidFill>
                    <a:srgbClr val="2E2E2E"/>
                  </a:solidFill>
                  <a:latin typeface="ITC Avant Garde Gothic"/>
                  <a:ea typeface="ITC Avant Garde Gothic"/>
                  <a:cs typeface="ITC Avant Garde Gothic"/>
                  <a:sym typeface="ITC Avant Garde Gothic"/>
                </a:rPr>
                <a:t>NGPKC</a:t>
              </a:r>
            </a:p>
          </p:txBody>
        </p:sp>
      </p:grpSp>
      <p:grpSp>
        <p:nvGrpSpPr>
          <p:cNvPr name="Group 11" id="11"/>
          <p:cNvGrpSpPr/>
          <p:nvPr/>
        </p:nvGrpSpPr>
        <p:grpSpPr>
          <a:xfrm rot="0">
            <a:off x="9296400" y="6938010"/>
            <a:ext cx="6886575" cy="2281777"/>
            <a:chOff x="0" y="0"/>
            <a:chExt cx="9182100" cy="3042370"/>
          </a:xfrm>
        </p:grpSpPr>
        <p:sp>
          <p:nvSpPr>
            <p:cNvPr name="TextBox 12" id="12"/>
            <p:cNvSpPr txBox="true"/>
            <p:nvPr/>
          </p:nvSpPr>
          <p:spPr>
            <a:xfrm rot="0">
              <a:off x="0" y="1134576"/>
              <a:ext cx="9182100" cy="1907794"/>
            </a:xfrm>
            <a:prstGeom prst="rect">
              <a:avLst/>
            </a:prstGeom>
          </p:spPr>
          <p:txBody>
            <a:bodyPr anchor="t" rtlCol="false" tIns="0" lIns="0" bIns="0" rIns="0">
              <a:spAutoFit/>
            </a:bodyPr>
            <a:lstStyle/>
            <a:p>
              <a:pPr algn="l" marL="0" indent="0" lvl="0">
                <a:lnSpc>
                  <a:spcPts val="2903"/>
                </a:lnSpc>
                <a:spcBef>
                  <a:spcPct val="0"/>
                </a:spcBef>
              </a:pPr>
              <a:r>
                <a:rPr lang="en-US" sz="2073">
                  <a:solidFill>
                    <a:srgbClr val="2E2E2E"/>
                  </a:solidFill>
                  <a:latin typeface="TT Fors"/>
                  <a:ea typeface="TT Fors"/>
                  <a:cs typeface="TT Fors"/>
                  <a:sym typeface="TT Fors"/>
                </a:rPr>
                <a:t>The hybrid model combines the </a:t>
              </a:r>
              <a:r>
                <a:rPr lang="en-US" b="true" sz="2073">
                  <a:solidFill>
                    <a:srgbClr val="2E2E2E"/>
                  </a:solidFill>
                  <a:latin typeface="TT Fors Bold"/>
                  <a:ea typeface="TT Fors Bold"/>
                  <a:cs typeface="TT Fors Bold"/>
                  <a:sym typeface="TT Fors Bold"/>
                </a:rPr>
                <a:t>advantages</a:t>
              </a:r>
              <a:r>
                <a:rPr lang="en-US" sz="2073">
                  <a:solidFill>
                    <a:srgbClr val="2E2E2E"/>
                  </a:solidFill>
                  <a:latin typeface="TT Fors"/>
                  <a:ea typeface="TT Fors"/>
                  <a:cs typeface="TT Fors"/>
                  <a:sym typeface="TT Fors"/>
                </a:rPr>
                <a:t> of both Rijndael and NGPKC, offering enhanced security while maintaining performance and energy efficiency in IoT devices.</a:t>
              </a:r>
            </a:p>
          </p:txBody>
        </p:sp>
        <p:sp>
          <p:nvSpPr>
            <p:cNvPr name="TextBox 13" id="13"/>
            <p:cNvSpPr txBox="true"/>
            <p:nvPr/>
          </p:nvSpPr>
          <p:spPr>
            <a:xfrm rot="0">
              <a:off x="0" y="-104775"/>
              <a:ext cx="9182100" cy="614722"/>
            </a:xfrm>
            <a:prstGeom prst="rect">
              <a:avLst/>
            </a:prstGeom>
          </p:spPr>
          <p:txBody>
            <a:bodyPr anchor="t" rtlCol="false" tIns="0" lIns="0" bIns="0" rIns="0">
              <a:spAutoFit/>
            </a:bodyPr>
            <a:lstStyle/>
            <a:p>
              <a:pPr algn="l" marL="0" indent="0" lvl="0">
                <a:lnSpc>
                  <a:spcPts val="3594"/>
                </a:lnSpc>
                <a:spcBef>
                  <a:spcPct val="0"/>
                </a:spcBef>
              </a:pPr>
              <a:r>
                <a:rPr lang="en-US" sz="2567" spc="-77" strike="noStrike" u="none">
                  <a:solidFill>
                    <a:srgbClr val="2E2E2E"/>
                  </a:solidFill>
                  <a:latin typeface="ITC Avant Garde Gothic"/>
                  <a:ea typeface="ITC Avant Garde Gothic"/>
                  <a:cs typeface="ITC Avant Garde Gothic"/>
                  <a:sym typeface="ITC Avant Garde Gothic"/>
                </a:rPr>
                <a:t>Hybrid Approach</a:t>
              </a:r>
            </a:p>
          </p:txBody>
        </p:sp>
      </p:grpSp>
      <p:grpSp>
        <p:nvGrpSpPr>
          <p:cNvPr name="Group 14" id="14"/>
          <p:cNvGrpSpPr/>
          <p:nvPr/>
        </p:nvGrpSpPr>
        <p:grpSpPr>
          <a:xfrm rot="0">
            <a:off x="-1303343" y="7829550"/>
            <a:ext cx="4846643" cy="1791955"/>
            <a:chOff x="0" y="0"/>
            <a:chExt cx="6462190" cy="2389273"/>
          </a:xfrm>
        </p:grpSpPr>
        <p:sp>
          <p:nvSpPr>
            <p:cNvPr name="Freeform 15" id="15"/>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6750" y="5143500"/>
            <a:ext cx="6886575" cy="3070860"/>
            <a:chOff x="0" y="0"/>
            <a:chExt cx="9182100" cy="4094480"/>
          </a:xfrm>
        </p:grpSpPr>
        <p:sp>
          <p:nvSpPr>
            <p:cNvPr name="TextBox 3" id="3"/>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2E2E2E"/>
                  </a:solidFill>
                  <a:latin typeface="TT Fors"/>
                  <a:ea typeface="TT Fors"/>
                  <a:cs typeface="TT Fors"/>
                  <a:sym typeface="TT Fors"/>
                </a:rPr>
                <a:t>Rijndael is the fastest method, providing high throughput ideal for bulk data encryption. However, it may not be the most energy-efficient option. In contrast, NGPKC offers a balance of security and low energy consumption, making it suitable for key exchanges in lightweight devices.</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2E2E2E"/>
                  </a:solidFill>
                  <a:latin typeface="ITC Avant Garde Gothic"/>
                  <a:ea typeface="ITC Avant Garde Gothic"/>
                  <a:cs typeface="ITC Avant Garde Gothic"/>
                  <a:sym typeface="ITC Avant Garde Gothic"/>
                </a:rPr>
                <a:t>Method Comparison</a:t>
              </a:r>
            </a:p>
          </p:txBody>
        </p:sp>
      </p:grpSp>
      <p:grpSp>
        <p:nvGrpSpPr>
          <p:cNvPr name="Group 5" id="5"/>
          <p:cNvGrpSpPr/>
          <p:nvPr/>
        </p:nvGrpSpPr>
        <p:grpSpPr>
          <a:xfrm rot="0">
            <a:off x="9296400" y="5143500"/>
            <a:ext cx="6886575" cy="3070860"/>
            <a:chOff x="0" y="0"/>
            <a:chExt cx="9182100" cy="4094480"/>
          </a:xfrm>
        </p:grpSpPr>
        <p:sp>
          <p:nvSpPr>
            <p:cNvPr name="TextBox 6" id="6"/>
            <p:cNvSpPr txBox="true"/>
            <p:nvPr/>
          </p:nvSpPr>
          <p:spPr>
            <a:xfrm rot="0">
              <a:off x="0" y="1155700"/>
              <a:ext cx="9182100" cy="2938780"/>
            </a:xfrm>
            <a:prstGeom prst="rect">
              <a:avLst/>
            </a:prstGeom>
          </p:spPr>
          <p:txBody>
            <a:bodyPr anchor="t" rtlCol="false" tIns="0" lIns="0" bIns="0" rIns="0">
              <a:spAutoFit/>
            </a:bodyPr>
            <a:lstStyle/>
            <a:p>
              <a:pPr algn="l" marL="0" indent="0" lvl="0">
                <a:lnSpc>
                  <a:spcPts val="2940"/>
                </a:lnSpc>
              </a:pPr>
              <a:r>
                <a:rPr lang="en-US" sz="2100">
                  <a:solidFill>
                    <a:srgbClr val="2E2E2E"/>
                  </a:solidFill>
                  <a:latin typeface="TT Fors"/>
                  <a:ea typeface="TT Fors"/>
                  <a:cs typeface="TT Fors"/>
                  <a:sym typeface="TT Fors"/>
                </a:rPr>
                <a:t>Future enhancements should focus on integrating post-quantum cryptography to safeguard against emerging threats. Additionally, the development of improved hybrid key management protocols will enhance security and efficiency while testing implementations on actual IoT devices will ensure real-world applicability.</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2E2E2E"/>
                  </a:solidFill>
                  <a:latin typeface="ITC Avant Garde Gothic"/>
                  <a:ea typeface="ITC Avant Garde Gothic"/>
                  <a:cs typeface="ITC Avant Garde Gothic"/>
                  <a:sym typeface="ITC Avant Garde Gothic"/>
                </a:rPr>
                <a:t>Future Directions</a:t>
              </a:r>
            </a:p>
          </p:txBody>
        </p:sp>
      </p:grpSp>
      <p:grpSp>
        <p:nvGrpSpPr>
          <p:cNvPr name="Group 8" id="8"/>
          <p:cNvGrpSpPr/>
          <p:nvPr/>
        </p:nvGrpSpPr>
        <p:grpSpPr>
          <a:xfrm rot="0">
            <a:off x="666750" y="666750"/>
            <a:ext cx="11201400" cy="3171825"/>
            <a:chOff x="0" y="0"/>
            <a:chExt cx="14935200" cy="4229100"/>
          </a:xfrm>
        </p:grpSpPr>
        <p:sp>
          <p:nvSpPr>
            <p:cNvPr name="TextBox 9" id="9"/>
            <p:cNvSpPr txBox="true"/>
            <p:nvPr/>
          </p:nvSpPr>
          <p:spPr>
            <a:xfrm rot="0">
              <a:off x="0" y="-9525"/>
              <a:ext cx="149352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47A1"/>
                  </a:solidFill>
                  <a:latin typeface="ITC Avant Garde Gothic"/>
                  <a:ea typeface="ITC Avant Garde Gothic"/>
                  <a:cs typeface="ITC Avant Garde Gothic"/>
                  <a:sym typeface="ITC Avant Garde Gothic"/>
                </a:rPr>
                <a:t>Conclusion and Enhancements</a:t>
              </a:r>
            </a:p>
          </p:txBody>
        </p:sp>
        <p:sp>
          <p:nvSpPr>
            <p:cNvPr name="TextBox 10" id="10"/>
            <p:cNvSpPr txBox="true"/>
            <p:nvPr/>
          </p:nvSpPr>
          <p:spPr>
            <a:xfrm rot="0">
              <a:off x="0" y="35814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4A90E2"/>
                  </a:solidFill>
                  <a:latin typeface="TT Fors"/>
                  <a:ea typeface="TT Fors"/>
                  <a:cs typeface="TT Fors"/>
                  <a:sym typeface="TT Fors"/>
                </a:rPr>
                <a:t>Evaluating Cryptographic Methods</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764443" cy="2309817"/>
          </a:xfrm>
        </p:grpSpPr>
        <p:sp>
          <p:nvSpPr>
            <p:cNvPr name="Freeform 3" id="3"/>
            <p:cNvSpPr/>
            <p:nvPr/>
          </p:nvSpPr>
          <p:spPr>
            <a:xfrm flipH="false" flipV="false" rot="0">
              <a:off x="0" y="0"/>
              <a:ext cx="1764443" cy="2309817"/>
            </a:xfrm>
            <a:custGeom>
              <a:avLst/>
              <a:gdLst/>
              <a:ahLst/>
              <a:cxnLst/>
              <a:rect r="r" b="b" t="t" l="l"/>
              <a:pathLst>
                <a:path h="2309817" w="1764443">
                  <a:moveTo>
                    <a:pt x="0" y="0"/>
                  </a:moveTo>
                  <a:lnTo>
                    <a:pt x="1764443" y="0"/>
                  </a:lnTo>
                  <a:lnTo>
                    <a:pt x="1764443" y="2309817"/>
                  </a:lnTo>
                  <a:lnTo>
                    <a:pt x="0" y="2309817"/>
                  </a:lnTo>
                  <a:close/>
                </a:path>
              </a:pathLst>
            </a:custGeom>
            <a:blipFill>
              <a:blip r:embed="rId2"/>
              <a:stretch>
                <a:fillRect l="0" t="-255" r="0" b="-255"/>
              </a:stretch>
            </a:blipFill>
          </p:spPr>
        </p:sp>
      </p:grpSp>
      <p:grpSp>
        <p:nvGrpSpPr>
          <p:cNvPr name="Group 4" id="4"/>
          <p:cNvGrpSpPr/>
          <p:nvPr/>
        </p:nvGrpSpPr>
        <p:grpSpPr>
          <a:xfrm rot="0">
            <a:off x="666750" y="666750"/>
            <a:ext cx="8324850" cy="2647950"/>
            <a:chOff x="0" y="0"/>
            <a:chExt cx="11099800" cy="3530600"/>
          </a:xfrm>
        </p:grpSpPr>
        <p:sp>
          <p:nvSpPr>
            <p:cNvPr name="TextBox 5" id="5"/>
            <p:cNvSpPr txBox="true"/>
            <p:nvPr/>
          </p:nvSpPr>
          <p:spPr>
            <a:xfrm rot="0">
              <a:off x="0" y="-9525"/>
              <a:ext cx="110998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0A47A1"/>
                  </a:solidFill>
                  <a:latin typeface="ITC Avant Garde Gothic"/>
                  <a:ea typeface="ITC Avant Garde Gothic"/>
                  <a:cs typeface="ITC Avant Garde Gothic"/>
                  <a:sym typeface="ITC Avant Garde Gothic"/>
                </a:rPr>
                <a:t>Thank You!</a:t>
              </a:r>
            </a:p>
          </p:txBody>
        </p:sp>
        <p:sp>
          <p:nvSpPr>
            <p:cNvPr name="TextBox 6" id="6"/>
            <p:cNvSpPr txBox="true"/>
            <p:nvPr/>
          </p:nvSpPr>
          <p:spPr>
            <a:xfrm rot="0">
              <a:off x="0" y="2168525"/>
              <a:ext cx="11068284" cy="13620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2E2E2E"/>
                  </a:solidFill>
                  <a:latin typeface="ITC Avant Garde Gothic"/>
                  <a:ea typeface="ITC Avant Garde Gothic"/>
                  <a:cs typeface="ITC Avant Garde Gothic"/>
                  <a:sym typeface="ITC Avant Garde Gothic"/>
                </a:rPr>
                <a:t>Connect with us on social media for updates</a:t>
              </a:r>
            </a:p>
          </p:txBody>
        </p:sp>
      </p:grpSp>
      <p:grpSp>
        <p:nvGrpSpPr>
          <p:cNvPr name="Group 7" id="7"/>
          <p:cNvGrpSpPr/>
          <p:nvPr/>
        </p:nvGrpSpPr>
        <p:grpSpPr>
          <a:xfrm rot="0">
            <a:off x="-1303343" y="7829550"/>
            <a:ext cx="4846643" cy="1791955"/>
            <a:chOff x="0" y="0"/>
            <a:chExt cx="6462190" cy="2389273"/>
          </a:xfrm>
        </p:grpSpPr>
        <p:sp>
          <p:nvSpPr>
            <p:cNvPr name="Freeform 8" id="8"/>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Lightweight Cryptography for IoT</dc:description>
  <dc:identifier>DAG6S_-kzhc</dc:identifier>
  <dcterms:modified xsi:type="dcterms:W3CDTF">2011-08-01T06:04:30Z</dcterms:modified>
  <cp:revision>1</cp:revision>
  <dc:title>Presentation - Lightweight Cryptography for IoT</dc:title>
</cp:coreProperties>
</file>